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confidently: greet the panel, state the app name (Somali Farm / SFMS), and the one-line pitch: an AI-powered, offline-first farm app for Somali farmers. Edit the university/department/date on this slide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pain: most smallholder farmers still use paper and memory. Walk the four problems. End on the transition line: SFMS solves these in one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value in one line: replace scattered paper with one connected workflow — records feed finances, finances feed decisions, AI and weather protect the crop.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Sweep the six pillars quickly — don't read every card. Say each is fully built and working in the app you'll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highlight feature. Stress the local relevance: Somali language, medicine options matched to what farmers can actually buy, and honest fallback to experts when unsure. Security: the AI key is server-side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Money is the farmer's #1 question. Show that the app turns raw entries into a clear profit picture, per plot, exportable for records or a loan.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newest and most impressive feature — spend time here. Emphasise: it is PROACTIVE (pushes, not waits), TARGETED per land (not spam to everyone), and already deployed and running. Roadmap is SMS + phone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the app connects data that is usually scattered. One crop, one story, from seed to sale — with an AI summary and exportable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ambition and completeness: three real roles and a full admin back-office, including mobile-money subscription billing designed for Somalia (pay via EVC/Zaad, admin verifies).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technical panel: one Flutter codebase, a secure Supabase backend with row-level security, AI and weather via server-side edge functions. Offline-first is a deliberate choice for the Somali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matters to a university panel. Lead with Row-Level Security — the database itself enforces isolation — and the fact that the AI key is never exposed in the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features to outcomes: money, resilience, inclusion. This is the 'so what' slide — speak to impact, not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credible plan: what's done, what's next (push + SMS are close), and the ambitious future (AI prediction, satellite, voice). It signals this is more than a class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the live app. Follow these six steps in order. Keep each short. The weather-alerts step (5) is your showpiece — end the demo on it or the Crop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 and invite questions. Restate the one-line mission. Thank the panel for their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0"/>
          </a:xfrm>
          <a:prstGeom prst="rect">
            <a:avLst/>
          </a:prstGeom>
          <a:solidFill>
            <a:srgbClr val="0A2E17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0D631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3291840"/>
            <a:ext cx="3291840" cy="3291840"/>
          </a:xfrm>
          <a:prstGeom prst="ellipse">
            <a:avLst/>
          </a:prstGeom>
          <a:solidFill>
            <a:srgbClr val="2E7D32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5800"/>
            <a:ext cx="822960" cy="822960"/>
          </a:xfrm>
          <a:prstGeom prst="ellipse">
            <a:avLst/>
          </a:prstGeom>
          <a:solidFill>
            <a:srgbClr val="8CD98A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685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0020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C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 FARM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Farm Management System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13232" y="342900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AI-powered, offline-first mobile app that helps farmers manage crops,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finances, and plant health — in Somali or English.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" y="4617720"/>
            <a:ext cx="112014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4617720"/>
            <a:ext cx="11201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61972" y="4617720"/>
            <a:ext cx="1225296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61972" y="4617720"/>
            <a:ext cx="1225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15868" y="4617720"/>
            <a:ext cx="2066544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15868" y="4617720"/>
            <a:ext cx="2066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11012" y="4617720"/>
            <a:ext cx="1751076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11012" y="4617720"/>
            <a:ext cx="17510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" y="5623560"/>
            <a:ext cx="3840480" cy="0"/>
          </a:xfrm>
          <a:prstGeom prst="line">
            <a:avLst/>
          </a:prstGeom>
          <a:noFill/>
          <a:ln w="19050">
            <a:solidFill>
              <a:srgbClr val="8CD9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58064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Eng. Abdiweli Ali Mire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9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[University Name]  ·  [Department]  ·  [Date]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Farming on paper and memory is costly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0848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06654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&amp; memory records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76148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Planting, expenses and sales are hard to track — so farmers can't see if a farm is actually profitable.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084832"/>
            <a:ext cx="566928" cy="566928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73952" y="20848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206654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left invisible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92240" y="276148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clear profit &amp; loss, it's hard to know which crop or season made or lost money.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233672"/>
            <a:ext cx="566928" cy="56692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4233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21538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disease caught late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14400" y="491032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are often noticed too late, after the damage — and the right treatment is unclear.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4233672"/>
            <a:ext cx="566928" cy="566928"/>
          </a:xfrm>
          <a:prstGeom prst="ellipse">
            <a:avLst/>
          </a:prstGeom>
          <a:solidFill>
            <a:srgbClr val="0D631B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73952" y="4233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421538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&amp; flood shocks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92240" y="491032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rain, floods and heat hit without warning, destroying crops and stored produce.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SFMS turns these everyday problems into one simple, mobile workflow.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 for the whole farm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12648" y="2103120"/>
            <a:ext cx="2084832" cy="2743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1016" y="2423160"/>
            <a:ext cx="768096" cy="768096"/>
          </a:xfrm>
          <a:prstGeom prst="ellipse">
            <a:avLst/>
          </a:prstGeom>
          <a:solidFill>
            <a:srgbClr val="0D631B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71016" y="24231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12648" y="333756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379476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Farms, plots, crops, tasks &amp; workers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25496" y="2103120"/>
            <a:ext cx="2084832" cy="2743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83864" y="2423160"/>
            <a:ext cx="768096" cy="768096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83864" y="24231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25496" y="333756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62656" y="379476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Expenses, harvests, sales, profit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38344" y="2103120"/>
            <a:ext cx="2084832" cy="2743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96712" y="2423160"/>
            <a:ext cx="768096" cy="768096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96712" y="24231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38344" y="333756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help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75504" y="379476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Doctor + Somali assistant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51192" y="2103120"/>
            <a:ext cx="2084832" cy="2743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09560" y="2423160"/>
            <a:ext cx="768096" cy="768096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09560" y="24231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51192" y="333756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88352" y="379476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flood &amp; heat alerts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464040" y="2103120"/>
            <a:ext cx="2084832" cy="2743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122408" y="2423160"/>
            <a:ext cx="768096" cy="768096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122408" y="242316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464040" y="333756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601200" y="3794760"/>
            <a:ext cx="1810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no signal, syncs later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103120" y="5394960"/>
            <a:ext cx="7955280" cy="777240"/>
          </a:xfrm>
          <a:prstGeom prst="roundRect">
            <a:avLst>
              <a:gd name="adj" fmla="val 49412"/>
            </a:avLst>
          </a:prstGeom>
          <a:solidFill>
            <a:srgbClr val="0D3B1E"/>
          </a:solidFill>
          <a:ln/>
        </p:spPr>
      </p:sp>
      <p:sp>
        <p:nvSpPr>
          <p:cNvPr id="30" name="Text 28"/>
          <p:cNvSpPr/>
          <p:nvPr/>
        </p:nvSpPr>
        <p:spPr>
          <a:xfrm>
            <a:off x="2103120" y="539496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records  →  clear finances  →  smarter decisions, all season long.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farmers can do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512064" cy="512064"/>
          </a:xfrm>
          <a:prstGeom prst="ellipse">
            <a:avLst/>
          </a:prstGeom>
          <a:solidFill>
            <a:srgbClr val="0D631B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0848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0848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 &amp; crop management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72491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farms, plots, greenhouses and crops with growth-stage tracking.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6552" y="1828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2584" y="2084832"/>
            <a:ext cx="512064" cy="51206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72584" y="20848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0952" y="20848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tracking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90872" y="272491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expenses, harvests and sales; see revenue, cost and net profit instantly.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93024" y="1828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9056" y="2084832"/>
            <a:ext cx="512064" cy="512064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49056" y="20848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07424" y="20848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Plant Doctor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67344" y="272491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leaf photo → disease, severity and treatment options from Google Gemini.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13632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169664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6112" y="41696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416966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Journey timeline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400" y="4809744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story per crop: planting → care → diagnosis → harvest → profit.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16552" y="3913632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2584" y="4169664"/>
            <a:ext cx="512064" cy="512064"/>
          </a:xfrm>
          <a:prstGeom prst="ellipse">
            <a:avLst/>
          </a:prstGeom>
          <a:solidFill>
            <a:srgbClr val="6D4C41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72584" y="41696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30952" y="416966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&amp; knowledge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90872" y="4809744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discussions, expert articles and a bilingual help centre.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93024" y="3913632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49056" y="4169664"/>
            <a:ext cx="512064" cy="51206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449056" y="41696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07424" y="416966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467344" y="4809744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save with no signal and sync automatically when back online.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PLANT DOCTOR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crop disease from a photo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640080" cy="640080"/>
          </a:xfrm>
          <a:prstGeom prst="ellipse">
            <a:avLst/>
          </a:prstGeom>
          <a:solidFill>
            <a:srgbClr val="0D631B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9933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a photo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39572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the affected leaf or plant in the field.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05840" y="2670048"/>
            <a:ext cx="0" cy="658368"/>
          </a:xfrm>
          <a:prstGeom prst="line">
            <a:avLst/>
          </a:prstGeom>
          <a:noFill/>
          <a:ln w="25400">
            <a:solidFill>
              <a:srgbClr val="8CD98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85800" y="3383280"/>
            <a:ext cx="640080" cy="64008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649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analyses 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76732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identifies the disease + confidence.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05840" y="4041648"/>
            <a:ext cx="0" cy="658368"/>
          </a:xfrm>
          <a:prstGeom prst="line">
            <a:avLst/>
          </a:prstGeom>
          <a:noFill/>
          <a:ln w="25400">
            <a:solidFill>
              <a:srgbClr val="8CD98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85800" y="4754880"/>
            <a:ext cx="640080" cy="64008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4754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47365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 plan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513892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treatment options, safety notes &amp; prevention.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040880" y="1874520"/>
            <a:ext cx="4480560" cy="3977640"/>
          </a:xfrm>
          <a:prstGeom prst="roundRect">
            <a:avLst>
              <a:gd name="adj" fmla="val 3218"/>
            </a:avLst>
          </a:prstGeom>
          <a:solidFill>
            <a:srgbClr val="0D3B1E"/>
          </a:solidFill>
          <a:ln/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0" y="2148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Somali farmers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15200" y="2743200"/>
            <a:ext cx="3977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7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Somali or English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7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up to 3 medicine options with active ingredients — so farmers match local brands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7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&lt; 70% → suggests asking a human expert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7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key stays on the server, never in the app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CLARITY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shilling, tracked and understood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27249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92024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21488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73168" y="27249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farm costs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192024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95360" y="21488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63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profit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13648" y="27249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margin 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10881360" cy="2286000"/>
          </a:xfrm>
          <a:prstGeom prst="roundRect">
            <a:avLst>
              <a:gd name="adj" fmla="val 4800"/>
            </a:avLst>
          </a:prstGeom>
          <a:solidFill>
            <a:srgbClr val="0D3B1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D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shows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5262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net profit &amp; margin badge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crops with growth progress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 feed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45262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Per-plot profit &amp; loss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exported to PDF &amp; Excel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Multi-farm switching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3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0"/>
          </a:xfrm>
          <a:prstGeom prst="rect">
            <a:avLst/>
          </a:prstGeom>
          <a:solidFill>
            <a:srgbClr val="0A2E1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FEATURE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Farm Analyst — proactive weather alerts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watches the sky for every farm and warns of floods, heavy rain and extreme heat — before damage happens.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" y="228600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7612" y="2542032"/>
            <a:ext cx="640080" cy="640080"/>
          </a:xfrm>
          <a:prstGeom prst="ellipse">
            <a:avLst/>
          </a:prstGeom>
          <a:solidFill>
            <a:srgbClr val="8CD98A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67612" y="2542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farm's location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9224" y="365760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farm's own GPS coordinates.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72384" y="2834640"/>
            <a:ext cx="256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346704" y="228600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9684" y="2542032"/>
            <a:ext cx="640080" cy="640080"/>
          </a:xfrm>
          <a:prstGeom prst="ellipse">
            <a:avLst/>
          </a:prstGeom>
          <a:solidFill>
            <a:srgbClr val="8CD98A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29684" y="2542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83864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forecast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11296" y="365760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forecast + river-flood outlook.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34456" y="2834640"/>
            <a:ext cx="256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208776" y="228600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91756" y="2542032"/>
            <a:ext cx="640080" cy="640080"/>
          </a:xfrm>
          <a:prstGeom prst="ellipse">
            <a:avLst/>
          </a:prstGeom>
          <a:solidFill>
            <a:srgbClr val="8CD98A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91756" y="2542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45936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Danger rules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373368" y="365760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Flood, heat, heavy rain, wind, dry-spell.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96528" y="2834640"/>
            <a:ext cx="256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9070848" y="228600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3828" y="2542032"/>
            <a:ext cx="640080" cy="64008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53828" y="2542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08008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alert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235440" y="3657600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farms at risk — in Somali or English.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" y="4663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every 2 hours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4632" y="5029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46704" y="4663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Per-land targeting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46704" y="5029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blanket message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08776" y="4663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spam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08776" y="5029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12-hour cooldown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070848" y="4663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&amp; deployed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070848" y="5029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real backend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94560" y="5806440"/>
            <a:ext cx="7772400" cy="640080"/>
          </a:xfrm>
          <a:prstGeom prst="roundRect">
            <a:avLst>
              <a:gd name="adj" fmla="val 50000"/>
            </a:avLst>
          </a:prstGeom>
          <a:solidFill>
            <a:srgbClr val="0D631B"/>
          </a:solidFill>
          <a:ln/>
        </p:spPr>
      </p:sp>
      <p:sp>
        <p:nvSpPr>
          <p:cNvPr id="38" name="Text 36"/>
          <p:cNvSpPr/>
          <p:nvPr/>
        </p:nvSpPr>
        <p:spPr>
          <a:xfrm>
            <a:off x="2194560" y="5806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push notifications &amp; SMS — reaching farmers even on basic phones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CROP JOURNEY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life of a crop, in one timeline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377440"/>
            <a:ext cx="731520" cy="731520"/>
          </a:xfrm>
          <a:prstGeom prst="ellipse">
            <a:avLst/>
          </a:prstGeom>
          <a:solidFill>
            <a:srgbClr val="0D631B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3200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2743200"/>
            <a:ext cx="1417320" cy="0"/>
          </a:xfrm>
          <a:prstGeom prst="line">
            <a:avLst/>
          </a:prstGeom>
          <a:noFill/>
          <a:ln w="31750">
            <a:solidFill>
              <a:srgbClr val="8CD9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237744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6324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23160" y="3200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&amp; fertiliser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94760" y="2743200"/>
            <a:ext cx="1417320" cy="0"/>
          </a:xfrm>
          <a:prstGeom prst="line">
            <a:avLst/>
          </a:prstGeom>
          <a:noFill/>
          <a:ln w="31750">
            <a:solidFill>
              <a:srgbClr val="8CD9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2377440"/>
            <a:ext cx="731520" cy="7315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3200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&amp; AI diagnosis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2743200"/>
            <a:ext cx="1417320" cy="0"/>
          </a:xfrm>
          <a:prstGeom prst="line">
            <a:avLst/>
          </a:prstGeom>
          <a:noFill/>
          <a:ln w="31750">
            <a:solidFill>
              <a:srgbClr val="8CD9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0920" y="2377440"/>
            <a:ext cx="731520" cy="731520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6092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20840" y="3200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92440" y="2743200"/>
            <a:ext cx="1417320" cy="0"/>
          </a:xfrm>
          <a:prstGeom prst="line">
            <a:avLst/>
          </a:prstGeom>
          <a:noFill/>
          <a:ln w="31750">
            <a:solidFill>
              <a:srgbClr val="8CD9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0" y="2377440"/>
            <a:ext cx="731520" cy="73152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0976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869680" y="3200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&amp; profit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023360"/>
            <a:ext cx="108813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425196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automatically pulls together records you already have — then adds a health score, an AI season summary, and a full profit &amp; loss for that crop, exportable as a PDF report.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63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score  </a:t>
            </a:r>
            <a:pPr indent="0" marL="0">
              <a:buNone/>
            </a:pPr>
            <a:r>
              <a:rPr lang="en-US" sz="1500" dirty="0">
                <a:solidFill>
                  <a:srgbClr val="5D6E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</a:t>
            </a:r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season summary  </a:t>
            </a:r>
            <a:pPr indent="0" marL="0">
              <a:buNone/>
            </a:pPr>
            <a:r>
              <a:rPr lang="en-US" sz="1500" dirty="0">
                <a:solidFill>
                  <a:srgbClr val="5D6E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</a:t>
            </a:r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&amp; loss  </a:t>
            </a:r>
            <a:pPr indent="0" marL="0">
              <a:buNone/>
            </a:pPr>
            <a:r>
              <a:rPr lang="en-US" sz="1500" dirty="0">
                <a:solidFill>
                  <a:srgbClr val="5D6E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</a:t>
            </a:r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export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PLATFORM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an app — a managed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63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their own farms, records, AI tools and crop journeys.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8745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Agricultural Expert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54880" y="26517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knowledge articles and answers the community.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21040" y="18745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0D3B1E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9536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Admin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95360" y="26517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whole platform from a mobile admin dashboard.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admin dashboard manages: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649578" cy="420624"/>
          </a:xfrm>
          <a:prstGeom prst="roundRect">
            <a:avLst>
              <a:gd name="adj" fmla="val 50000"/>
            </a:avLst>
          </a:prstGeom>
          <a:solidFill>
            <a:srgbClr val="E8F2E5"/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572000"/>
            <a:ext cx="164957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roles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472538" y="4572000"/>
            <a:ext cx="1254557" cy="420624"/>
          </a:xfrm>
          <a:prstGeom prst="roundRect">
            <a:avLst>
              <a:gd name="adj" fmla="val 50000"/>
            </a:avLst>
          </a:prstGeom>
          <a:solidFill>
            <a:srgbClr val="E8F2E5"/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72538" y="4572000"/>
            <a:ext cx="125455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909974" y="4572000"/>
            <a:ext cx="1945843" cy="420624"/>
          </a:xfrm>
          <a:prstGeom prst="roundRect">
            <a:avLst>
              <a:gd name="adj" fmla="val 50000"/>
            </a:avLst>
          </a:prstGeom>
          <a:solidFill>
            <a:srgbClr val="E8F2E5"/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09974" y="4572000"/>
            <a:ext cx="194584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database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8698" y="4572000"/>
            <a:ext cx="1748333" cy="420624"/>
          </a:xfrm>
          <a:prstGeom prst="roundRect">
            <a:avLst>
              <a:gd name="adj" fmla="val 50000"/>
            </a:avLst>
          </a:prstGeom>
          <a:solidFill>
            <a:srgbClr val="E8F2E5"/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8698" y="4572000"/>
            <a:ext cx="17483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69910" y="4572000"/>
            <a:ext cx="2340864" cy="420624"/>
          </a:xfrm>
          <a:prstGeom prst="roundRect">
            <a:avLst>
              <a:gd name="adj" fmla="val 50000"/>
            </a:avLst>
          </a:prstGeom>
          <a:solidFill>
            <a:srgbClr val="E8F2E5"/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69910" y="4572000"/>
            <a:ext cx="2340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moderation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138928"/>
            <a:ext cx="1649578" cy="420624"/>
          </a:xfrm>
          <a:prstGeom prst="roundRect">
            <a:avLst>
              <a:gd name="adj" fmla="val 50000"/>
            </a:avLst>
          </a:prstGeom>
          <a:solidFill>
            <a:srgbClr val="E8F2E5"/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38928"/>
            <a:ext cx="164957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472538" y="5138928"/>
            <a:ext cx="1353312" cy="420624"/>
          </a:xfrm>
          <a:prstGeom prst="roundRect">
            <a:avLst>
              <a:gd name="adj" fmla="val 50000"/>
            </a:avLst>
          </a:prstGeom>
          <a:solidFill>
            <a:srgbClr val="E8F2E5"/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72538" y="5138928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credits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008730" y="5138928"/>
            <a:ext cx="1254557" cy="420624"/>
          </a:xfrm>
          <a:prstGeom prst="roundRect">
            <a:avLst>
              <a:gd name="adj" fmla="val 50000"/>
            </a:avLst>
          </a:prstGeom>
          <a:solidFill>
            <a:srgbClr val="E8F2E5"/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08730" y="5138928"/>
            <a:ext cx="125455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46166" y="5138928"/>
            <a:ext cx="1353312" cy="420624"/>
          </a:xfrm>
          <a:prstGeom prst="roundRect">
            <a:avLst>
              <a:gd name="adj" fmla="val 50000"/>
            </a:avLst>
          </a:prstGeom>
          <a:solidFill>
            <a:srgbClr val="E8F2E5"/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6166" y="5138928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982358" y="5138928"/>
            <a:ext cx="1155802" cy="420624"/>
          </a:xfrm>
          <a:prstGeom prst="roundRect">
            <a:avLst>
              <a:gd name="adj" fmla="val 50000"/>
            </a:avLst>
          </a:prstGeom>
          <a:solidFill>
            <a:srgbClr val="E8F2E5"/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82358" y="5138928"/>
            <a:ext cx="115580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321040" y="5138928"/>
            <a:ext cx="1353312" cy="420624"/>
          </a:xfrm>
          <a:prstGeom prst="roundRect">
            <a:avLst>
              <a:gd name="adj" fmla="val 50000"/>
            </a:avLst>
          </a:prstGeom>
          <a:solidFill>
            <a:srgbClr val="E8F2E5"/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0" y="5138928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5705856"/>
            <a:ext cx="1847088" cy="420624"/>
          </a:xfrm>
          <a:prstGeom prst="roundRect">
            <a:avLst>
              <a:gd name="adj" fmla="val 50000"/>
            </a:avLst>
          </a:prstGeom>
          <a:solidFill>
            <a:srgbClr val="E8F2E5"/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705856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settings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3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0"/>
          </a:xfrm>
          <a:prstGeom prst="rect">
            <a:avLst/>
          </a:prstGeom>
          <a:solidFill>
            <a:srgbClr val="0A2E1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C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technology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3200400" cy="2011680"/>
          </a:xfrm>
          <a:prstGeom prst="roundRect">
            <a:avLst>
              <a:gd name="adj" fmla="val 5455"/>
            </a:avLst>
          </a:prstGeom>
          <a:solidFill>
            <a:srgbClr val="2E7D32"/>
          </a:solidFill>
          <a:ln/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377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mobile app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3063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· Riverpod · go_router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(Hive)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77640" y="27432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800600" y="2103120"/>
            <a:ext cx="3200400" cy="2011680"/>
          </a:xfrm>
          <a:prstGeom prst="roundRect">
            <a:avLst>
              <a:gd name="adj" fmla="val 5455"/>
            </a:avLst>
          </a:prstGeom>
          <a:solidFill>
            <a:srgbClr val="0D631B"/>
          </a:solidFill>
          <a:ln/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2377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3063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PostgreSQL + RLS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· Edge Functions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27432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778240" y="2103120"/>
            <a:ext cx="3200400" cy="2011680"/>
          </a:xfrm>
          <a:prstGeom prst="roundRect">
            <a:avLst>
              <a:gd name="adj" fmla="val 5455"/>
            </a:avLst>
          </a:prstGeom>
          <a:solidFill>
            <a:srgbClr val="F2A900"/>
          </a:solidFill>
          <a:ln/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2377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data services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06840" y="3063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(AI)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AF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(weather/flood)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1051560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D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512064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from one codebase · real-time secure database · AI kept safely on the server · free, keyless weather data · works offline where connectivity is weakest.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TRUST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protect every farmer's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566928" cy="566928"/>
          </a:xfrm>
          <a:prstGeom prst="ellipse">
            <a:avLst/>
          </a:prstGeom>
          <a:solidFill>
            <a:srgbClr val="0D631B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0848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06654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Row-Level Security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76148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rules ensure each user can only read and write their own farm's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084832"/>
            <a:ext cx="566928" cy="56692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73952" y="20848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206654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roles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92240" y="276148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with farmer / expert / admin role-based access control.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187952"/>
            <a:ext cx="566928" cy="566928"/>
          </a:xfrm>
          <a:prstGeom prst="ellipse">
            <a:avLst/>
          </a:prstGeom>
          <a:solidFill>
            <a:srgbClr val="F2A900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4187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16966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AI keys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14400" y="486460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Gemini key lives only on the server — never shipped in the app.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4187952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73952" y="4187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416966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by default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92240" y="486460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edge functions, cron-secret protection, and privacy-first design.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impact for Somali farmers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109728" cy="777240"/>
          </a:xfrm>
          <a:prstGeom prst="rect">
            <a:avLst/>
          </a:prstGeom>
          <a:solidFill>
            <a:srgbClr val="0D631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8483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decisions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54203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profit data replaces guesswork.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16552" y="18288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2148840"/>
            <a:ext cx="109728" cy="7772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4919472" y="208483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income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9472" y="254203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crops and seasons that pay.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93024" y="18288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67344" y="2148840"/>
            <a:ext cx="109728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8695944" y="208483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crop losses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95944" y="254203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disease early; act before floods.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3794760"/>
            <a:ext cx="109728" cy="7772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373075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resilience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418795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weather warnings save harvests.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16552" y="347472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3794760"/>
            <a:ext cx="109728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919472" y="373075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inclusion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19472" y="418795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records that a lender can trust.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93024" y="347472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67344" y="3794760"/>
            <a:ext cx="109728" cy="777240"/>
          </a:xfrm>
          <a:prstGeom prst="rect">
            <a:avLst/>
          </a:prstGeom>
          <a:solidFill>
            <a:srgbClr val="6D4C41"/>
          </a:solidFill>
          <a:ln/>
        </p:spPr>
      </p:sp>
      <p:sp>
        <p:nvSpPr>
          <p:cNvPr id="26" name="Text 24"/>
          <p:cNvSpPr/>
          <p:nvPr/>
        </p:nvSpPr>
        <p:spPr>
          <a:xfrm>
            <a:off x="8695944" y="373075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Accessible to all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95944" y="418795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 language, works offline.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project is going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0D631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(live)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farm &amp; finance records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Plant Doctor (Gemini)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weather alerts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+ admin platform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87452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87452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F2A900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8745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74320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push notifications (FCM)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flood &amp; rain warnings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 intelligence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21040" y="187452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7DA"/>
            </a:solidFill>
            <a:prstDash val="solid"/>
          </a:ln>
          <a:effectLst>
            <a:outerShdw sx="100000" sy="100000" kx="0" ky="0" algn="bl" rotWithShape="0" blurRad="114300" dist="38100" dir="5400000">
              <a:srgbClr val="1A3322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187452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8745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95360" y="274320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yield prediction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/ NDVI crop health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Somali interface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marketplace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3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0"/>
          </a:xfrm>
          <a:prstGeom prst="rect">
            <a:avLst/>
          </a:prstGeom>
          <a:solidFill>
            <a:srgbClr val="0A2E1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I'll show you now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8CD98A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0848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in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54480" y="246888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login — the app greets in Somali.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194560"/>
            <a:ext cx="548640" cy="548640"/>
          </a:xfrm>
          <a:prstGeom prst="ellipse">
            <a:avLst/>
          </a:prstGeom>
          <a:solidFill>
            <a:srgbClr val="8CD98A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0848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32320" y="246888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profit, active crops, weather banner.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24612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520440"/>
            <a:ext cx="548640" cy="548640"/>
          </a:xfrm>
          <a:prstGeom prst="ellipse">
            <a:avLst/>
          </a:prstGeom>
          <a:solidFill>
            <a:srgbClr val="8CD98A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41071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record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554480" y="37947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 sale — watch the profit update instantly.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324612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520440"/>
            <a:ext cx="548640" cy="548640"/>
          </a:xfrm>
          <a:prstGeom prst="ellipse">
            <a:avLst/>
          </a:prstGeom>
          <a:solidFill>
            <a:srgbClr val="8CD98A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341071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Plant Doctor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132320" y="37947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leaf photo → diagnosis &amp; treatment.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57200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4846320"/>
            <a:ext cx="548640" cy="54864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473659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alerts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554480" y="51206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Notifications → real weather warnings.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457200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CD9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4846320"/>
            <a:ext cx="548640" cy="548640"/>
          </a:xfrm>
          <a:prstGeom prst="ellipse">
            <a:avLst/>
          </a:prstGeom>
          <a:solidFill>
            <a:srgbClr val="8CD98A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4652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2320" y="473659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Journey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132320" y="51206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crop from planting to profit.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3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0"/>
          </a:xfrm>
          <a:prstGeom prst="rect">
            <a:avLst/>
          </a:prstGeom>
          <a:solidFill>
            <a:srgbClr val="0A2E17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-1371600"/>
            <a:ext cx="4572000" cy="4572000"/>
          </a:xfrm>
          <a:prstGeom prst="ellipse">
            <a:avLst/>
          </a:prstGeom>
          <a:solidFill>
            <a:srgbClr val="0D631B">
              <a:alpha val="4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731520"/>
            <a:ext cx="822960" cy="822960"/>
          </a:xfrm>
          <a:prstGeom prst="ellipse">
            <a:avLst/>
          </a:prstGeom>
          <a:solidFill>
            <a:srgbClr val="8CD98A"/>
          </a:solidFill>
          <a:ln/>
          <a:effectLst>
            <a:outerShdw sx="100000" sy="100000" kx="0" ky="0" algn="bl" rotWithShape="0" blurRad="76200" dist="25400" dir="5400000">
              <a:srgbClr val="1A3322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731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0020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C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 FARM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13232" y="36118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C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that helps every farmer grow more, lose less, and decide with confidence.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4754880"/>
            <a:ext cx="3657600" cy="0"/>
          </a:xfrm>
          <a:prstGeom prst="line">
            <a:avLst/>
          </a:prstGeom>
          <a:noFill/>
          <a:ln w="19050">
            <a:solidFill>
              <a:srgbClr val="8CD9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Abdiweli Ali Mire  ·  [University Name]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2026-08-26T15:45:06Z</dcterms:created>
  <dcterms:modified xsi:type="dcterms:W3CDTF">2026-08-26T15:45:06Z</dcterms:modified>
</cp:coreProperties>
</file>